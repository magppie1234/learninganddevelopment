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16"/>
    <p:sldId id="262" r:id="rId8"/>
    <p:sldId id="264" r:id="rId9"/>
    <p:sldId id="268" r:id="rId17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99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777240" y="2487168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Dress Code Policy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&amp; Development  ·  New Joiner Orientation Series</a:t>
            </a:r>
            <a:endParaRPr lang="en-US" sz="1400" dirty="0">
              <a:solidFill>
                <a:srgbClr val="A8A6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F07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Path Through This Module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032357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16037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4"/>
          <p:cNvSpPr/>
          <p:nvPr/>
        </p:nvSpPr>
        <p:spPr>
          <a:xfrm>
            <a:off x="640080" y="1691640"/>
            <a:ext cx="5349240" cy="1100000"/>
          </a:xfrm>
          <a:prstGeom prst="roundRect">
            <a:avLst>
              <a:gd name="adj" fmla="val 845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2" name="Text 5"/>
          <p:cNvSpPr/>
          <p:nvPr/>
        </p:nvSpPr>
        <p:spPr>
          <a:xfrm>
            <a:off x="868680" y="1856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103" name="Text 6"/>
          <p:cNvSpPr/>
          <p:nvPr/>
        </p:nvSpPr>
        <p:spPr>
          <a:xfrm>
            <a:off x="160020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Philosophy &amp; Vision</a:t>
            </a:r>
            <a:endParaRPr lang="en-US" dirty="0"/>
          </a:p>
        </p:txBody>
      </p:sp>
      <p:sp>
        <p:nvSpPr>
          <p:cNvPr id="104" name="Text 7"/>
          <p:cNvSpPr/>
          <p:nvPr/>
        </p:nvSpPr>
        <p:spPr>
          <a:xfrm>
            <a:off x="1600200" y="2258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policy exists</a:t>
            </a:r>
            <a:endParaRPr lang="en-US" dirty="0"/>
          </a:p>
        </p:txBody>
      </p:sp>
      <p:sp>
        <p:nvSpPr>
          <p:cNvPr id="105" name="Shape 4"/>
          <p:cNvSpPr/>
          <p:nvPr/>
        </p:nvSpPr>
        <p:spPr>
          <a:xfrm>
            <a:off x="6263640" y="1691640"/>
            <a:ext cx="5349240" cy="1100000"/>
          </a:xfrm>
          <a:prstGeom prst="roundRect">
            <a:avLst>
              <a:gd name="adj" fmla="val 845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6" name="Text 5"/>
          <p:cNvSpPr/>
          <p:nvPr/>
        </p:nvSpPr>
        <p:spPr>
          <a:xfrm>
            <a:off x="6492240" y="1856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107" name="Text 6"/>
          <p:cNvSpPr/>
          <p:nvPr/>
        </p:nvSpPr>
        <p:spPr>
          <a:xfrm>
            <a:off x="722376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General Principles</a:t>
            </a:r>
            <a:endParaRPr lang="en-US" dirty="0"/>
          </a:p>
        </p:txBody>
      </p:sp>
      <p:sp>
        <p:nvSpPr>
          <p:cNvPr id="108" name="Text 7"/>
          <p:cNvSpPr/>
          <p:nvPr/>
        </p:nvSpPr>
        <p:spPr>
          <a:xfrm>
            <a:off x="7223760" y="2258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for everyone</a:t>
            </a:r>
            <a:endParaRPr lang="en-US" dirty="0"/>
          </a:p>
        </p:txBody>
      </p:sp>
      <p:sp>
        <p:nvSpPr>
          <p:cNvPr id="109" name="Shape 4"/>
          <p:cNvSpPr/>
          <p:nvPr/>
        </p:nvSpPr>
        <p:spPr>
          <a:xfrm>
            <a:off x="640080" y="2881640"/>
            <a:ext cx="5349240" cy="1100000"/>
          </a:xfrm>
          <a:prstGeom prst="roundRect">
            <a:avLst>
              <a:gd name="adj" fmla="val 845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0" name="Text 5"/>
          <p:cNvSpPr/>
          <p:nvPr/>
        </p:nvSpPr>
        <p:spPr>
          <a:xfrm>
            <a:off x="868680" y="3046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111" name="Text 6"/>
          <p:cNvSpPr/>
          <p:nvPr/>
        </p:nvSpPr>
        <p:spPr>
          <a:xfrm>
            <a:off x="1600200" y="306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Guidelines for Men &amp; Women</a:t>
            </a:r>
            <a:endParaRPr lang="en-US" dirty="0"/>
          </a:p>
        </p:txBody>
      </p:sp>
      <p:sp>
        <p:nvSpPr>
          <p:cNvPr id="112" name="Text 7"/>
          <p:cNvSpPr/>
          <p:nvPr/>
        </p:nvSpPr>
        <p:spPr>
          <a:xfrm>
            <a:off x="1600200" y="3448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attire &amp; client meetings</a:t>
            </a:r>
            <a:endParaRPr lang="en-US" dirty="0"/>
          </a:p>
        </p:txBody>
      </p:sp>
      <p:sp>
        <p:nvSpPr>
          <p:cNvPr id="113" name="Shape 4"/>
          <p:cNvSpPr/>
          <p:nvPr/>
        </p:nvSpPr>
        <p:spPr>
          <a:xfrm>
            <a:off x="6263640" y="2881640"/>
            <a:ext cx="5349240" cy="1100000"/>
          </a:xfrm>
          <a:prstGeom prst="roundRect">
            <a:avLst>
              <a:gd name="adj" fmla="val 845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4" name="Text 5"/>
          <p:cNvSpPr/>
          <p:nvPr/>
        </p:nvSpPr>
        <p:spPr>
          <a:xfrm>
            <a:off x="6492240" y="3046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000" dirty="0"/>
          </a:p>
        </p:txBody>
      </p:sp>
      <p:sp>
        <p:nvSpPr>
          <p:cNvPr id="115" name="Text 6"/>
          <p:cNvSpPr/>
          <p:nvPr/>
        </p:nvSpPr>
        <p:spPr>
          <a:xfrm>
            <a:off x="7223760" y="306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Grooming Standards</a:t>
            </a:r>
            <a:endParaRPr lang="en-US" dirty="0"/>
          </a:p>
        </p:txBody>
      </p:sp>
      <p:sp>
        <p:nvSpPr>
          <p:cNvPr id="116" name="Text 7"/>
          <p:cNvSpPr/>
          <p:nvPr/>
        </p:nvSpPr>
        <p:spPr>
          <a:xfrm>
            <a:off x="7223760" y="3448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yourself with polish</a:t>
            </a:r>
            <a:endParaRPr lang="en-US" dirty="0"/>
          </a:p>
        </p:txBody>
      </p:sp>
      <p:sp>
        <p:nvSpPr>
          <p:cNvPr id="117" name="Shape 4"/>
          <p:cNvSpPr/>
          <p:nvPr/>
        </p:nvSpPr>
        <p:spPr>
          <a:xfrm>
            <a:off x="640080" y="4071640"/>
            <a:ext cx="5349240" cy="1100000"/>
          </a:xfrm>
          <a:prstGeom prst="roundRect">
            <a:avLst>
              <a:gd name="adj" fmla="val 845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8" name="Text 5"/>
          <p:cNvSpPr/>
          <p:nvPr/>
        </p:nvSpPr>
        <p:spPr>
          <a:xfrm>
            <a:off x="868680" y="4236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000" dirty="0"/>
          </a:p>
        </p:txBody>
      </p:sp>
      <p:sp>
        <p:nvSpPr>
          <p:cNvPr id="119" name="Text 6"/>
          <p:cNvSpPr/>
          <p:nvPr/>
        </p:nvSpPr>
        <p:spPr>
          <a:xfrm>
            <a:off x="1600200" y="425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Do's and Don'ts</a:t>
            </a:r>
            <a:endParaRPr lang="en-US" dirty="0"/>
          </a:p>
        </p:txBody>
      </p:sp>
      <p:sp>
        <p:nvSpPr>
          <p:cNvPr id="120" name="Text 7"/>
          <p:cNvSpPr/>
          <p:nvPr/>
        </p:nvSpPr>
        <p:spPr>
          <a:xfrm>
            <a:off x="1600200" y="4638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quick-reference view</a:t>
            </a:r>
            <a:endParaRPr lang="en-US" dirty="0"/>
          </a:p>
        </p:txBody>
      </p:sp>
      <p:sp>
        <p:nvSpPr>
          <p:cNvPr id="121" name="Shape 4"/>
          <p:cNvSpPr/>
          <p:nvPr/>
        </p:nvSpPr>
        <p:spPr>
          <a:xfrm>
            <a:off x="6263640" y="4071640"/>
            <a:ext cx="5349240" cy="1100000"/>
          </a:xfrm>
          <a:prstGeom prst="roundRect">
            <a:avLst>
              <a:gd name="adj" fmla="val 845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2" name="Text 5"/>
          <p:cNvSpPr/>
          <p:nvPr/>
        </p:nvSpPr>
        <p:spPr>
          <a:xfrm>
            <a:off x="6492240" y="4236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000" dirty="0"/>
          </a:p>
        </p:txBody>
      </p:sp>
      <p:sp>
        <p:nvSpPr>
          <p:cNvPr id="123" name="Text 6"/>
          <p:cNvSpPr/>
          <p:nvPr/>
        </p:nvSpPr>
        <p:spPr>
          <a:xfrm>
            <a:off x="7223760" y="425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Compliance</a:t>
            </a:r>
            <a:endParaRPr lang="en-US" dirty="0"/>
          </a:p>
        </p:txBody>
      </p:sp>
      <p:sp>
        <p:nvSpPr>
          <p:cNvPr id="124" name="Text 7"/>
          <p:cNvSpPr/>
          <p:nvPr/>
        </p:nvSpPr>
        <p:spPr>
          <a:xfrm>
            <a:off x="7223760" y="4638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expected of you</a:t>
            </a:r>
            <a:endParaRPr lang="en-US" dirty="0"/>
          </a:p>
        </p:txBody>
      </p:sp>
      <p:sp>
        <p:nvSpPr>
          <p:cNvPr id="125" name="Shape 4"/>
          <p:cNvSpPr/>
          <p:nvPr/>
        </p:nvSpPr>
        <p:spPr>
          <a:xfrm>
            <a:off x="640080" y="5261640"/>
            <a:ext cx="5349240" cy="1100000"/>
          </a:xfrm>
          <a:prstGeom prst="roundRect">
            <a:avLst>
              <a:gd name="adj" fmla="val 845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6" name="Text 5"/>
          <p:cNvSpPr/>
          <p:nvPr/>
        </p:nvSpPr>
        <p:spPr>
          <a:xfrm>
            <a:off x="868680" y="54262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2000" dirty="0"/>
          </a:p>
        </p:txBody>
      </p:sp>
      <p:sp>
        <p:nvSpPr>
          <p:cNvPr id="127" name="Text 6"/>
          <p:cNvSpPr/>
          <p:nvPr/>
        </p:nvSpPr>
        <p:spPr>
          <a:xfrm>
            <a:off x="1600200" y="544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Corrective Measures</a:t>
            </a:r>
            <a:endParaRPr lang="en-US" dirty="0"/>
          </a:p>
        </p:txBody>
      </p:sp>
      <p:sp>
        <p:nvSpPr>
          <p:cNvPr id="128" name="Text 7"/>
          <p:cNvSpPr/>
          <p:nvPr/>
        </p:nvSpPr>
        <p:spPr>
          <a:xfrm>
            <a:off x="1600200" y="5828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Upholding the brand's image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40" dirty="0">
                <a:solidFill>
                  <a:srgbClr val="F07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PHILOSOPHY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the Dress Code Matters at MAGPPIE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6537960" cy="4343400"/>
          </a:xfrm>
          <a:prstGeom prst="roundRect">
            <a:avLst>
              <a:gd name="adj" fmla="val 2526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078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workplace environment should reflect professionalism, mutual respect, and comfort for everyone.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4091940"/>
            <a:ext cx="5897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IN" sz="1600" dirty="0">
                <a:solidFill>
                  <a:srgbClr val="E8E6E1"/>
                </a:solidFill>
              </a:rPr>
              <a:t>At MAGPPIE, every interaction is a reflection of who we are — a luxury brand built on precision, care, and comfort. Our dress code isn't about restricting who you are; it's simply an extension of the same elegance and comfort we promise every client, worn by the people who bring it to life.</a:t>
            </a:r>
            <a:endParaRPr lang="en-US" sz="1600" dirty="0">
              <a:solidFill>
                <a:srgbClr val="A8A6A0"/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1050645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116037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Rounded Rectangle 33"/>
          <p:cNvSpPr/>
          <p:nvPr/>
        </p:nvSpPr>
        <p:spPr>
          <a:xfrm>
            <a:off x="7478040" y="1691640"/>
            <a:ext cx="4073880" cy="4343400"/>
          </a:xfrm>
          <a:prstGeom prst="roundRect">
            <a:avLst>
              <a:gd name="adj" fmla="val 4500"/>
            </a:avLst>
          </a:prstGeom>
          <a:solidFill>
            <a:srgbClr val="403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78040" y="1971640"/>
            <a:ext cx="685800" cy="685800"/>
          </a:xfrm>
          <a:prstGeom prst="ellipse">
            <a:avLst/>
          </a:prstGeom>
          <a:solidFill>
            <a:srgbClr val="F07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040" y="2121640"/>
            <a:ext cx="385800" cy="3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78040" y="2777440"/>
            <a:ext cx="347388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Bookman Old Style"/>
              </a:rPr>
              <a:t>Why It Matters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8040" y="3337440"/>
            <a:ext cx="3473880" cy="24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F0EEE8"/>
                </a:solidFill>
                <a:latin typeface="Calibri"/>
              </a:rPr>
              <a:t>•  Builds trust with every client interaction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F0EEE8"/>
                </a:solidFill>
                <a:latin typeface="Calibri"/>
              </a:rPr>
              <a:t>•  Reflects your own professionalism and confidence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F0EEE8"/>
                </a:solidFill>
                <a:latin typeface="Calibri"/>
              </a:rPr>
              <a:t>•  Protects the reputation you and MAGPPIE share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8040" y="5475040"/>
            <a:ext cx="347388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F07823"/>
                </a:solidFill>
                <a:latin typeface="Calibri"/>
              </a:rPr>
              <a:t>Culture isn't just what we say — it's what we choose to wear, every single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General Principles — for Every Team Member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0392" y="1920240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984248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dresscode/icons2/userti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83" y="2076831"/>
            <a:ext cx="500634" cy="5006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Professional &amp; Presentable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28800" y="2350008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 should be professional and presentable at all times.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73952" y="1920240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537960" y="1984248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dresscode/icons2/leaf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543" y="2076831"/>
            <a:ext cx="500634" cy="5006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</a:rPr>
              <a:t>Neat &amp; Modest</a:t>
            </a:r>
          </a:p>
        </p:txBody>
      </p:sp>
      <p:sp>
        <p:nvSpPr>
          <p:cNvPr id="17" name="Text 13"/>
          <p:cNvSpPr/>
          <p:nvPr/>
        </p:nvSpPr>
        <p:spPr>
          <a:xfrm>
            <a:off x="7452360" y="2350008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in a manner that is neat, modest, and appropriate for a professional workplace.</a:t>
            </a:r>
          </a:p>
        </p:txBody>
      </p:sp>
      <p:sp>
        <p:nvSpPr>
          <p:cNvPr id="18" name="Shape 14"/>
          <p:cNvSpPr/>
          <p:nvPr/>
        </p:nvSpPr>
        <p:spPr>
          <a:xfrm>
            <a:off x="640080" y="3813048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50392" y="4041648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914400" y="4105656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2" descr="/home/claude/dresscode/icons2/tshi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983" y="4198239"/>
            <a:ext cx="500634" cy="5006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28800" y="4087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Well-Fitted &amp; Pressed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828800" y="4471416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well-fitted attire that's put together.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263640" y="3813048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473952" y="4041648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537960" y="4105656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/home/claude/dresscode/icons2/handshelping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543" y="4198239"/>
            <a:ext cx="500634" cy="50063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52360" y="4087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Respectful &amp; Comfortable</a:t>
            </a: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7452360" y="4471416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respectful, comfortable environment for all colleagues.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MAGPPIE  ·  Dress Code Policy  ·  L&amp;D Onboarding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1068933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3"/>
          <p:cNvSpPr/>
          <p:nvPr/>
        </p:nvSpPr>
        <p:spPr>
          <a:xfrm>
            <a:off x="116037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Rounded Rectangle 40"/>
          <p:cNvSpPr/>
          <p:nvPr/>
        </p:nvSpPr>
        <p:spPr>
          <a:xfrm>
            <a:off x="640080" y="5790000"/>
            <a:ext cx="10972800" cy="620000"/>
          </a:xfrm>
          <a:prstGeom prst="roundRect">
            <a:avLst>
              <a:gd name="adj" fmla="val 12000"/>
            </a:avLst>
          </a:prstGeom>
          <a:solidFill>
            <a:srgbClr val="403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0080" y="5890000"/>
            <a:ext cx="420000" cy="420000"/>
          </a:xfrm>
          <a:prstGeom prst="ellipse">
            <a:avLst/>
          </a:prstGeom>
          <a:solidFill>
            <a:srgbClr val="F07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con_doub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080" y="5980000"/>
            <a:ext cx="240000" cy="240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90080" y="5790000"/>
            <a:ext cx="100228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07823"/>
                </a:solidFill>
                <a:latin typeface="Bookman Old Style"/>
              </a:rPr>
              <a:t>When in Doubt: </a:t>
            </a:r>
            <a:r>
              <a:rPr sz="1400">
                <a:solidFill>
                  <a:srgbClr val="FFFFFF"/>
                </a:solidFill>
                <a:latin typeface="Calibri"/>
              </a:rPr>
              <a:t>Choose the more professional, understated option. It's easy to remember, and guides judgment gently.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40" dirty="0">
                <a:solidFill>
                  <a:srgbClr val="F07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MEN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Everyday Attire &amp; Client Meetings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5198" y="1818638"/>
            <a:ext cx="552414" cy="507088"/>
          </a:xfrm>
          <a:prstGeom prst="ellipse">
            <a:avLst/>
          </a:prstGeom>
          <a:solidFill>
            <a:srgbClr val="8FAE9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dresscode/icons2/tshi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15" y="1897008"/>
            <a:ext cx="373806" cy="3738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23644" y="181932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Everyday Attire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45165" y="2331427"/>
            <a:ext cx="4929250" cy="218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Collared shirts (long or short sleeved), tucked into trousers, pants, or chinos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casuals — Polo T-shirts with smart jeans (for non-client-dealing members only)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well-fitted clothing that’s looks put together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shoes or neat sneakers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60120" y="4544278"/>
            <a:ext cx="4800600" cy="0"/>
          </a:xfrm>
          <a:prstGeom prst="line">
            <a:avLst/>
          </a:prstGeom>
          <a:noFill/>
          <a:ln w="9525">
            <a:solidFill>
              <a:srgbClr val="4A48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976104" y="4614163"/>
            <a:ext cx="525780" cy="548637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dresscode/icons2/c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87" y="4721603"/>
            <a:ext cx="333756" cy="333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23644" y="472160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Grooming tips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37844" y="5316693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hair and well-maintained facial hair — attention to detail makes all the difference.</a:t>
            </a:r>
          </a:p>
        </p:txBody>
      </p:sp>
      <p:sp>
        <p:nvSpPr>
          <p:cNvPr id="16" name="Shape 12"/>
          <p:cNvSpPr/>
          <p:nvPr/>
        </p:nvSpPr>
        <p:spPr>
          <a:xfrm>
            <a:off x="617220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403F3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92240" y="1849848"/>
            <a:ext cx="566928" cy="566928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8" name="Image 2" descr="/home/claude/dresscode/icons2/briefcas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775" y="1911869"/>
            <a:ext cx="413857" cy="41385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62002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 Meetings</a:t>
            </a: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(</a:t>
            </a: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 Sales team &amp; Client facing roles</a:t>
            </a: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)</a:t>
            </a:r>
            <a:endParaRPr lang="en-US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68775" y="2574984"/>
            <a:ext cx="4800600" cy="366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Blazers or suits, with ties as appropriate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Collared shirts in solid colours or subtle textures (avoid loud prints), tucked in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trousers or well-fitted chinos in neutral tones — navy, charcoal, beige, black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 shoes or loafers, well-maintained, with a matching belt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hair/beard, minimal accessories </a:t>
            </a:r>
          </a:p>
          <a:p>
            <a:pPr>
              <a:lnSpc>
                <a:spcPct val="120000"/>
              </a:lnSpc>
              <a:spcAft>
                <a:spcPts val="1000"/>
              </a:spcAft>
              <a:buSzPct val="100000"/>
            </a:pPr>
            <a:br>
              <a:rPr lang="en-US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6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>
              <a:solidFill>
                <a:srgbClr val="A8A6A0"/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1087221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116037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40" dirty="0">
                <a:solidFill>
                  <a:srgbClr val="F07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WOMEN</a:t>
            </a:r>
            <a:endParaRPr lang="en-US" b="1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Everyday Attire &amp; Client Meetings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60120" y="4892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MAGPPIE  ·  Dress Code Policy  ·  L&amp;D Onboarding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1105509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116037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5664943F-00F6-9740-956E-A42763F615BD}"/>
              </a:ext>
            </a:extLst>
          </p:cNvPr>
          <p:cNvSpPr/>
          <p:nvPr/>
        </p:nvSpPr>
        <p:spPr>
          <a:xfrm>
            <a:off x="64008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24A3E382-3A09-42B1-9C74-CD487AC162C3}"/>
              </a:ext>
            </a:extLst>
          </p:cNvPr>
          <p:cNvSpPr/>
          <p:nvPr/>
        </p:nvSpPr>
        <p:spPr>
          <a:xfrm>
            <a:off x="974634" y="1818638"/>
            <a:ext cx="566928" cy="566928"/>
          </a:xfrm>
          <a:prstGeom prst="ellipse">
            <a:avLst/>
          </a:prstGeom>
          <a:solidFill>
            <a:srgbClr val="8FAE9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0" descr="/home/claude/dresscode/icons2/tshirt_white.png">
            <a:extLst>
              <a:ext uri="{FF2B5EF4-FFF2-40B4-BE49-F238E27FC236}">
                <a16:creationId xmlns:a16="http://schemas.microsoft.com/office/drawing/2014/main" id="{D4888D14-C42D-1A6C-A8F3-3FA380BF6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65" y="1897007"/>
            <a:ext cx="413857" cy="413857"/>
          </a:xfrm>
          <a:prstGeom prst="rect">
            <a:avLst/>
          </a:prstGeom>
        </p:spPr>
      </p:pic>
      <p:sp>
        <p:nvSpPr>
          <p:cNvPr id="36" name="Text 6">
            <a:extLst>
              <a:ext uri="{FF2B5EF4-FFF2-40B4-BE49-F238E27FC236}">
                <a16:creationId xmlns:a16="http://schemas.microsoft.com/office/drawing/2014/main" id="{2B8F82BB-9BA3-D4E8-6E9A-15945CB5C774}"/>
              </a:ext>
            </a:extLst>
          </p:cNvPr>
          <p:cNvSpPr/>
          <p:nvPr/>
        </p:nvSpPr>
        <p:spPr>
          <a:xfrm>
            <a:off x="1723644" y="1819329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Everyday Attire</a:t>
            </a:r>
            <a:endParaRPr lang="en-US" sz="16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14FC3834-A72D-C1DD-0FB0-FA2DEB14C313}"/>
              </a:ext>
            </a:extLst>
          </p:cNvPr>
          <p:cNvSpPr/>
          <p:nvPr/>
        </p:nvSpPr>
        <p:spPr>
          <a:xfrm>
            <a:off x="1045165" y="2519969"/>
            <a:ext cx="4800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8E6E1"/>
                </a:solidFill>
              </a:rPr>
              <a:t>Formal tops, shirts, tunics or formal dresses</a:t>
            </a:r>
            <a:br>
              <a:rPr lang="en-US" sz="1600" dirty="0">
                <a:solidFill>
                  <a:srgbClr val="E8E6E1"/>
                </a:solidFill>
              </a:rPr>
            </a:b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8E6E1"/>
                </a:solidFill>
              </a:rPr>
              <a:t>Ethnic wear is warmly welcomed — saris, salwar kameez, and similar styles are a beautiful part of our workplace</a:t>
            </a:r>
            <a:endParaRPr lang="en-IN" sz="1600" dirty="0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1C4B0920-B073-8D5D-4D8E-2823A033EEBE}"/>
              </a:ext>
            </a:extLst>
          </p:cNvPr>
          <p:cNvSpPr/>
          <p:nvPr/>
        </p:nvSpPr>
        <p:spPr>
          <a:xfrm>
            <a:off x="6369594" y="1673352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403F3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69D309BE-85D8-AD3F-4F03-1AE3DBB0E080}"/>
              </a:ext>
            </a:extLst>
          </p:cNvPr>
          <p:cNvSpPr/>
          <p:nvPr/>
        </p:nvSpPr>
        <p:spPr>
          <a:xfrm>
            <a:off x="6492240" y="1849848"/>
            <a:ext cx="566928" cy="566928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6" name="Image 2" descr="/home/claude/dresscode/icons2/briefcase_dark.png">
            <a:extLst>
              <a:ext uri="{FF2B5EF4-FFF2-40B4-BE49-F238E27FC236}">
                <a16:creationId xmlns:a16="http://schemas.microsoft.com/office/drawing/2014/main" id="{8D268FFE-FEFF-E50A-0336-25DB502B2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775" y="1911869"/>
            <a:ext cx="413857" cy="413857"/>
          </a:xfrm>
          <a:prstGeom prst="rect">
            <a:avLst/>
          </a:prstGeom>
        </p:spPr>
      </p:pic>
      <p:sp>
        <p:nvSpPr>
          <p:cNvPr id="50" name="Text 14">
            <a:extLst>
              <a:ext uri="{FF2B5EF4-FFF2-40B4-BE49-F238E27FC236}">
                <a16:creationId xmlns:a16="http://schemas.microsoft.com/office/drawing/2014/main" id="{58C68D88-FB8A-809E-8C9C-C9E73FD3C16C}"/>
              </a:ext>
            </a:extLst>
          </p:cNvPr>
          <p:cNvSpPr/>
          <p:nvPr/>
        </p:nvSpPr>
        <p:spPr>
          <a:xfrm>
            <a:off x="7183526" y="1897007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Client Meetings (</a:t>
            </a: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 Sales team &amp; Client facing roles</a:t>
            </a: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)</a:t>
            </a:r>
            <a:endParaRPr lang="en-US" sz="16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E679B6BB-892D-0D0A-7145-A1701A3A4F9C}"/>
              </a:ext>
            </a:extLst>
          </p:cNvPr>
          <p:cNvSpPr/>
          <p:nvPr/>
        </p:nvSpPr>
        <p:spPr>
          <a:xfrm>
            <a:off x="6568775" y="2509655"/>
            <a:ext cx="4800600" cy="427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Blazers or suits, with ties as appropriate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Blouses or formal shirts, kurtas with trousers, or well-fitted formal dresses (knee-length or longer), in sober colours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Saree or salwar-kameez as an optional traditional-wear choice, if it fits your brand culture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Closed-toe flats or low heels — practical for walking client homes or active sites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IN" sz="1600" dirty="0">
                <a:solidFill>
                  <a:srgbClr val="F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jewellery and makeup, hair neatly tied back</a:t>
            </a:r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9283392D-E577-D8A4-8C0A-22A409C23C62}"/>
              </a:ext>
            </a:extLst>
          </p:cNvPr>
          <p:cNvSpPr/>
          <p:nvPr/>
        </p:nvSpPr>
        <p:spPr>
          <a:xfrm>
            <a:off x="1005132" y="4687438"/>
            <a:ext cx="499518" cy="478922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32867465-DA0F-CDAE-00F5-330F820FCDD8}"/>
              </a:ext>
            </a:extLst>
          </p:cNvPr>
          <p:cNvSpPr/>
          <p:nvPr/>
        </p:nvSpPr>
        <p:spPr>
          <a:xfrm>
            <a:off x="974634" y="4544278"/>
            <a:ext cx="4800600" cy="0"/>
          </a:xfrm>
          <a:prstGeom prst="line">
            <a:avLst/>
          </a:prstGeom>
          <a:noFill/>
          <a:ln w="9525">
            <a:solidFill>
              <a:srgbClr val="4A48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1" descr="/home/claude/dresscode/icons2/cut_white.png">
            <a:extLst>
              <a:ext uri="{FF2B5EF4-FFF2-40B4-BE49-F238E27FC236}">
                <a16:creationId xmlns:a16="http://schemas.microsoft.com/office/drawing/2014/main" id="{C614A8BB-0207-4EFE-FADC-A83DE3588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215" y="4764209"/>
            <a:ext cx="333756" cy="3337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BCCD3225-AE28-4EB3-1C2C-4A5278497B94}"/>
              </a:ext>
            </a:extLst>
          </p:cNvPr>
          <p:cNvSpPr/>
          <p:nvPr/>
        </p:nvSpPr>
        <p:spPr>
          <a:xfrm>
            <a:off x="1097280" y="5247107"/>
            <a:ext cx="4800600" cy="767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IN" sz="1600" dirty="0">
                <a:solidFill>
                  <a:srgbClr val="E8E6E1"/>
                </a:solidFill>
              </a:rPr>
              <a:t>Neat and well-maintained hair, with minimal or no makeup/accessories, as per personal choice and comfortable footwear.</a:t>
            </a:r>
            <a:endParaRPr lang="en-US" sz="1600" dirty="0">
              <a:solidFill>
                <a:srgbClr val="E8E6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BAC53D1E-7CC8-3672-1E5E-80BE0D5BCAAF}"/>
              </a:ext>
            </a:extLst>
          </p:cNvPr>
          <p:cNvSpPr/>
          <p:nvPr/>
        </p:nvSpPr>
        <p:spPr>
          <a:xfrm>
            <a:off x="1739011" y="474888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Grooming tips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Presenting Yourself with Polish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50392" y="1920240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1984248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82880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Hair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828800" y="2350008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Neat, well-maintained hair, styled appropriately for a professional setting.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473952" y="1920240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537960" y="1984248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7452360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</a:rPr>
              <a:t>Nails</a:t>
            </a:r>
          </a:p>
        </p:txBody>
      </p:sp>
      <p:sp>
        <p:nvSpPr>
          <p:cNvPr id="17" name="Text 13"/>
          <p:cNvSpPr/>
          <p:nvPr/>
        </p:nvSpPr>
        <p:spPr>
          <a:xfrm>
            <a:off x="7452360" y="2350008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2000"/>
              </a:lnSpc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Trimmed, clean nails. If nail polish is worn, keep it neat and chip-free.</a:t>
            </a:r>
          </a:p>
        </p:txBody>
      </p:sp>
      <p:sp>
        <p:nvSpPr>
          <p:cNvPr id="18" name="Shape 14"/>
          <p:cNvSpPr/>
          <p:nvPr/>
        </p:nvSpPr>
        <p:spPr>
          <a:xfrm>
            <a:off x="640080" y="3813048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850392" y="4041648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914400" y="4105656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1828800" y="4087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Personal Hygiene</a:t>
            </a: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828800" y="4471416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good personal hygiene, including managing body odour through daily hygiene and deodorant use.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263640" y="3813048"/>
            <a:ext cx="5349240" cy="1847088"/>
          </a:xfrm>
          <a:prstGeom prst="roundRect">
            <a:avLst>
              <a:gd name="adj" fmla="val 5941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473952" y="4041648"/>
            <a:ext cx="813816" cy="813816"/>
          </a:xfrm>
          <a:prstGeom prst="ellipse">
            <a:avLst/>
          </a:prstGeom>
          <a:ln w="15875">
            <a:solidFill>
              <a:srgbClr val="F078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537960" y="4105656"/>
            <a:ext cx="685800" cy="685800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7452360" y="40873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Fragrance &amp; Breath</a:t>
            </a: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7452360" y="4471416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breath fresh; use mild fragrances and avoid overpowering perfumes or deodorants.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008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MAGPPIE  ·  Dress Code Policy  ·  L&amp;D Onboarding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1068933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9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3"/>
          <p:cNvSpPr/>
          <p:nvPr/>
        </p:nvSpPr>
        <p:spPr>
          <a:xfrm>
            <a:off x="116037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4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Box 40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spc="240">
                <a:solidFill>
                  <a:srgbClr val="F07823"/>
                </a:solidFill>
                <a:latin typeface="Calibri"/>
              </a:rPr>
              <a:t>GROOMING STANDARDS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83" y="2076831"/>
            <a:ext cx="500634" cy="500634"/>
          </a:xfrm>
          <a:prstGeom prst="rect">
            <a:avLst/>
          </a:prstGeom>
        </p:spPr>
      </p:pic>
      <p:pic>
        <p:nvPicPr>
          <p:cNvPr id="43" name="Picture 42" descr="icon_nai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543" y="2076831"/>
            <a:ext cx="500634" cy="500634"/>
          </a:xfrm>
          <a:prstGeom prst="rect">
            <a:avLst/>
          </a:prstGeom>
        </p:spPr>
      </p:pic>
      <p:pic>
        <p:nvPicPr>
          <p:cNvPr id="44" name="Picture 43" descr="icon_hygie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6983" y="4198239"/>
            <a:ext cx="500634" cy="500634"/>
          </a:xfrm>
          <a:prstGeom prst="rect">
            <a:avLst/>
          </a:prstGeom>
        </p:spPr>
      </p:pic>
      <p:pic>
        <p:nvPicPr>
          <p:cNvPr id="45" name="Picture 44" descr="icon_spr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0543" y="4198239"/>
            <a:ext cx="500634" cy="50063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640080" y="5790000"/>
            <a:ext cx="10972800" cy="620000"/>
          </a:xfrm>
          <a:prstGeom prst="roundRect">
            <a:avLst>
              <a:gd name="adj" fmla="val 12000"/>
            </a:avLst>
          </a:prstGeom>
          <a:solidFill>
            <a:srgbClr val="403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90080" y="5890000"/>
            <a:ext cx="420000" cy="420000"/>
          </a:xfrm>
          <a:prstGeom prst="ellipse">
            <a:avLst/>
          </a:prstGeom>
          <a:solidFill>
            <a:srgbClr val="F07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con_ge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080" y="5985000"/>
            <a:ext cx="230000" cy="230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90080" y="5790000"/>
            <a:ext cx="100228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07823"/>
                </a:solidFill>
                <a:latin typeface="Bookman Old Style"/>
              </a:rPr>
              <a:t>Grooming reflects professionalism: </a:t>
            </a:r>
            <a:r>
              <a:rPr sz="1350">
                <a:solidFill>
                  <a:srgbClr val="FFFFFF"/>
                </a:solidFill>
                <a:latin typeface="Calibri"/>
              </a:rPr>
              <a:t>kept simple and gender-neutral, it protects the dignity of our brand and of everyone who represents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Do's and Don'ts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761640"/>
            <a:ext cx="5394960" cy="3538360"/>
          </a:xfrm>
          <a:prstGeom prst="roundRect">
            <a:avLst>
              <a:gd name="adj" fmla="val 2474"/>
            </a:avLst>
          </a:prstGeom>
          <a:solidFill>
            <a:srgbClr val="1B3226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0120" y="2990240"/>
            <a:ext cx="530352" cy="530352"/>
          </a:xfrm>
          <a:prstGeom prst="ellipse">
            <a:avLst/>
          </a:prstGeom>
          <a:solidFill>
            <a:srgbClr val="4CAF7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dresscode/icons2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8" y="2990240"/>
            <a:ext cx="387157" cy="3871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299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CAF7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</a:t>
            </a:r>
            <a:endParaRPr lang="en-US" sz="1900" dirty="0"/>
          </a:p>
        </p:txBody>
      </p:sp>
      <p:pic>
        <p:nvPicPr>
          <p:cNvPr id="10" name="Image 1" descr="/home/claude/dresscode/icons2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71059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666592"/>
            <a:ext cx="4572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well-fitted, ironed clothing</a:t>
            </a:r>
            <a:endParaRPr lang="en-US" sz="1200" dirty="0"/>
          </a:p>
        </p:txBody>
      </p:sp>
      <p:pic>
        <p:nvPicPr>
          <p:cNvPr id="12" name="Image 2" descr="/home/claude/dresscode/icons2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06336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4019364"/>
            <a:ext cx="4572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Collared shirts, formal tops or professional dresses</a:t>
            </a:r>
            <a:endParaRPr lang="en-US" sz="1200" dirty="0"/>
          </a:p>
        </p:txBody>
      </p:sp>
      <p:pic>
        <p:nvPicPr>
          <p:cNvPr id="14" name="Image 3" descr="/home/claude/dresscode/icons2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13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372136"/>
            <a:ext cx="4572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 wear — sarees, salwar kameez, co-ord sets</a:t>
            </a:r>
            <a:endParaRPr lang="en-US" sz="1200" dirty="0"/>
          </a:p>
        </p:txBody>
      </p:sp>
      <p:pic>
        <p:nvPicPr>
          <p:cNvPr id="16" name="Image 4" descr="/home/claude/dresscode/icons2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6890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724908"/>
            <a:ext cx="4572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formal for client meetings</a:t>
            </a:r>
            <a:endParaRPr lang="en-US" sz="1200" dirty="0"/>
          </a:p>
        </p:txBody>
      </p:sp>
      <p:pic>
        <p:nvPicPr>
          <p:cNvPr id="18" name="Image 5" descr="/home/claude/dresscode/icons2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2168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0160" y="5077680"/>
            <a:ext cx="4572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colours or subtle patterns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6172200" y="2761640"/>
            <a:ext cx="5394960" cy="3538360"/>
          </a:xfrm>
          <a:prstGeom prst="roundRect">
            <a:avLst>
              <a:gd name="adj" fmla="val 2474"/>
            </a:avLst>
          </a:prstGeom>
          <a:solidFill>
            <a:srgbClr val="3A1E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3"/>
          <p:cNvSpPr/>
          <p:nvPr/>
        </p:nvSpPr>
        <p:spPr>
          <a:xfrm>
            <a:off x="6492240" y="2990240"/>
            <a:ext cx="530352" cy="530352"/>
          </a:xfrm>
          <a:prstGeom prst="ellipse">
            <a:avLst/>
          </a:prstGeom>
          <a:solidFill>
            <a:srgbClr val="E263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6" descr="/home/claude/dresscode/icons2/timescirc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838" y="2990240"/>
            <a:ext cx="387157" cy="38715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59752" y="299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63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DON'T</a:t>
            </a:r>
            <a:endParaRPr lang="en-US" sz="1900" dirty="0"/>
          </a:p>
        </p:txBody>
      </p:sp>
      <p:pic>
        <p:nvPicPr>
          <p:cNvPr id="24" name="Image 7" descr="/home/claude/dresscode/icons2/timescirc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710592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12280" y="3666592"/>
            <a:ext cx="4617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Excessively short/cropped clothing, ripped jeans</a:t>
            </a:r>
            <a:endParaRPr lang="en-US" sz="1200" dirty="0"/>
          </a:p>
        </p:txBody>
      </p:sp>
      <p:pic>
        <p:nvPicPr>
          <p:cNvPr id="26" name="Image 8" descr="/home/claude/dresscode/icons2/timescirc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063364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12280" y="4019364"/>
            <a:ext cx="4617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Garments with very deep necklines</a:t>
            </a:r>
            <a:endParaRPr lang="en-US" sz="1200" dirty="0"/>
          </a:p>
        </p:txBody>
      </p:sp>
      <p:pic>
        <p:nvPicPr>
          <p:cNvPr id="28" name="Image 9" descr="/home/claude/dresscode/icons2/timescirc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416136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12280" y="4372136"/>
            <a:ext cx="4617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casual, unkempt or wrinkled attire</a:t>
            </a:r>
            <a:endParaRPr lang="en-US" sz="1200" dirty="0"/>
          </a:p>
        </p:txBody>
      </p:sp>
      <p:pic>
        <p:nvPicPr>
          <p:cNvPr id="30" name="Image 10" descr="/home/claude/dresscode/icons2/timescirc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768908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812280" y="4724908"/>
            <a:ext cx="4617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Polo T-shirts + jeans for client-facing roles</a:t>
            </a:r>
            <a:endParaRPr lang="en-US" sz="1200" dirty="0"/>
          </a:p>
        </p:txBody>
      </p:sp>
      <p:pic>
        <p:nvPicPr>
          <p:cNvPr id="32" name="Image 11" descr="/home/claude/dresscode/icons2/timescirc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121680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812280" y="5077680"/>
            <a:ext cx="4617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prints, oversized graphics, big visible logos</a:t>
            </a:r>
            <a:endParaRPr lang="en-US" sz="1200" dirty="0"/>
          </a:p>
        </p:txBody>
      </p:sp>
      <p:sp>
        <p:nvSpPr>
          <p:cNvPr id="35" name="Shape 21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2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3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24"/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25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26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27"/>
          <p:cNvSpPr/>
          <p:nvPr/>
        </p:nvSpPr>
        <p:spPr>
          <a:xfrm>
            <a:off x="1123797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28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29"/>
          <p:cNvSpPr/>
          <p:nvPr/>
        </p:nvSpPr>
        <p:spPr>
          <a:xfrm>
            <a:off x="116037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30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1" descr="/home/claude/dresscode/icons2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74452"/>
            <a:ext cx="201168" cy="201168"/>
          </a:xfrm>
          <a:prstGeom prst="rect">
            <a:avLst/>
          </a:prstGeom>
        </p:spPr>
      </p:pic>
      <p:sp>
        <p:nvSpPr>
          <p:cNvPr id="46" name="Text 7"/>
          <p:cNvSpPr/>
          <p:nvPr/>
        </p:nvSpPr>
        <p:spPr>
          <a:xfrm>
            <a:off x="1280160" y="5430452"/>
            <a:ext cx="4572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role-appropriate footwear</a:t>
            </a:r>
            <a:endParaRPr lang="en-US" sz="1200" dirty="0"/>
          </a:p>
        </p:txBody>
      </p:sp>
      <p:pic>
        <p:nvPicPr>
          <p:cNvPr id="47" name="Image 1" descr="/home/claude/dresscode/icons2/checkcircl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827224"/>
            <a:ext cx="201168" cy="201168"/>
          </a:xfrm>
          <a:prstGeom prst="rect">
            <a:avLst/>
          </a:prstGeom>
        </p:spPr>
      </p:pic>
      <p:sp>
        <p:nvSpPr>
          <p:cNvPr id="48" name="Text 7"/>
          <p:cNvSpPr/>
          <p:nvPr/>
        </p:nvSpPr>
        <p:spPr>
          <a:xfrm>
            <a:off x="1280160" y="5783224"/>
            <a:ext cx="4572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hair and well-maintained grooming</a:t>
            </a:r>
            <a:endParaRPr lang="en-US" sz="1200" dirty="0"/>
          </a:p>
        </p:txBody>
      </p:sp>
      <p:pic>
        <p:nvPicPr>
          <p:cNvPr id="49" name="Image 7" descr="/home/claude/dresscode/icons2/timescirc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474452"/>
            <a:ext cx="201168" cy="201168"/>
          </a:xfrm>
          <a:prstGeom prst="rect">
            <a:avLst/>
          </a:prstGeom>
        </p:spPr>
      </p:pic>
      <p:sp>
        <p:nvSpPr>
          <p:cNvPr id="50" name="Text 15"/>
          <p:cNvSpPr/>
          <p:nvPr/>
        </p:nvSpPr>
        <p:spPr>
          <a:xfrm>
            <a:off x="6812280" y="5430452"/>
            <a:ext cx="4617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Bulky, overly casual or distracting footwear</a:t>
            </a:r>
            <a:endParaRPr lang="en-US" sz="1200" dirty="0"/>
          </a:p>
        </p:txBody>
      </p:sp>
      <p:pic>
        <p:nvPicPr>
          <p:cNvPr id="51" name="Image 7" descr="/home/claude/dresscode/icons2/timescircl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827224"/>
            <a:ext cx="201168" cy="201168"/>
          </a:xfrm>
          <a:prstGeom prst="rect">
            <a:avLst/>
          </a:prstGeom>
        </p:spPr>
      </p:pic>
      <p:sp>
        <p:nvSpPr>
          <p:cNvPr id="52" name="Text 15"/>
          <p:cNvSpPr/>
          <p:nvPr/>
        </p:nvSpPr>
        <p:spPr>
          <a:xfrm>
            <a:off x="6812280" y="5783224"/>
            <a:ext cx="46177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Casual/lounge attire on video calls while working remotely</a:t>
            </a:r>
            <a:endParaRPr lang="en-US" sz="1200" dirty="0"/>
          </a:p>
        </p:txBody>
      </p:sp>
      <p:pic>
        <p:nvPicPr>
          <p:cNvPr id="53" name="Picture 52" descr="outfit_do_m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8820" y="1780000"/>
            <a:ext cx="500000" cy="5200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40080" y="2310000"/>
            <a:ext cx="2317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6E1"/>
                </a:solidFill>
                <a:latin typeface="Calibri"/>
              </a:rPr>
              <a:t>Men — Do</a:t>
            </a:r>
          </a:p>
        </p:txBody>
      </p:sp>
      <p:pic>
        <p:nvPicPr>
          <p:cNvPr id="55" name="Picture 54" descr="outfit_do_wom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300" y="1780000"/>
            <a:ext cx="500000" cy="5200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417560" y="2310000"/>
            <a:ext cx="2317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6E1"/>
                </a:solidFill>
                <a:latin typeface="Calibri"/>
              </a:rPr>
              <a:t>Women — Do</a:t>
            </a:r>
          </a:p>
        </p:txBody>
      </p:sp>
      <p:pic>
        <p:nvPicPr>
          <p:cNvPr id="57" name="Picture 56" descr="outfit_dont_m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0940" y="1780000"/>
            <a:ext cx="500000" cy="520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472200" y="2310000"/>
            <a:ext cx="2317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6E1"/>
                </a:solidFill>
                <a:latin typeface="Calibri"/>
              </a:rPr>
              <a:t>Men — Don't</a:t>
            </a:r>
          </a:p>
        </p:txBody>
      </p:sp>
      <p:pic>
        <p:nvPicPr>
          <p:cNvPr id="59" name="Picture 58" descr="outfit_dont_wom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8420" y="1780000"/>
            <a:ext cx="500000" cy="5200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949680" y="2310000"/>
            <a:ext cx="2317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6E1"/>
                </a:solidFill>
                <a:latin typeface="Calibri"/>
              </a:rPr>
              <a:t>Women — Don't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Compliance &amp; Accountability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0120" y="1972926"/>
            <a:ext cx="621792" cy="621792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dresscode/icons2/clipboard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2056868"/>
            <a:ext cx="453908" cy="4539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764792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dress code applies to every team member, every working day. Adherence reflects your professionalism and your respect for colleagues and clients — and it upholds the image our guests trust MAGPPIE for.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3A1E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960120" y="3545694"/>
            <a:ext cx="621792" cy="621792"/>
          </a:xfrm>
          <a:prstGeom prst="ellipse">
            <a:avLst/>
          </a:prstGeom>
          <a:solidFill>
            <a:srgbClr val="E263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dresscode/icons2/times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62" y="3629636"/>
            <a:ext cx="453908" cy="4539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337560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adhere to the dress code may result in corrective action —  so if you're ever unsure what's appropriate, ask before you dress, not after.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837176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B3226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60120" y="5103948"/>
            <a:ext cx="621792" cy="621792"/>
          </a:xfrm>
          <a:prstGeom prst="ellipse">
            <a:avLst/>
          </a:prstGeom>
          <a:solidFill>
            <a:srgbClr val="4CAF7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dresscode/icons2/handshelpin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2" y="5173376"/>
            <a:ext cx="453908" cy="453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808730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case of a grey area, discuss with your manager or HR. We'd always rather clarify upfront than correct after the fact.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1160373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Quick Self-Check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0120" y="1972926"/>
            <a:ext cx="621792" cy="621792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828800" y="1764792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 b="1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outfit clean and fitted?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3A1E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960120" y="3545694"/>
            <a:ext cx="621792" cy="621792"/>
          </a:xfrm>
          <a:prstGeom prst="ellipse">
            <a:avLst/>
          </a:prstGeom>
          <a:solidFill>
            <a:srgbClr val="E263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1828800" y="3337560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 b="1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appropriate for my role today?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4837176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B3226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60120" y="5103948"/>
            <a:ext cx="621792" cy="621792"/>
          </a:xfrm>
          <a:prstGeom prst="ellipse">
            <a:avLst/>
          </a:prstGeom>
          <a:solidFill>
            <a:srgbClr val="4CAF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1828800" y="4808730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 b="1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representing MAGPPIE confidently?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1160373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spc="240">
                <a:solidFill>
                  <a:srgbClr val="F07823"/>
                </a:solidFill>
                <a:latin typeface="Calibri"/>
              </a:rPr>
              <a:t>BEFORE YOU HEAD OUT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2056868"/>
            <a:ext cx="453908" cy="453908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3629636"/>
            <a:ext cx="453908" cy="453908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5173376"/>
            <a:ext cx="453908" cy="4539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5EEE4-22B0-373A-62F1-7C51ABF7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B8B802-F78D-333B-6691-41CF6A39A8C5}"/>
              </a:ext>
            </a:extLst>
          </p:cNvPr>
          <p:cNvSpPr/>
          <p:nvPr/>
        </p:nvSpPr>
        <p:spPr>
          <a:xfrm>
            <a:off x="10149840" y="-1920240"/>
            <a:ext cx="4206240" cy="420624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7D82EE-0728-CF53-EC53-064B71A05DE3}"/>
              </a:ext>
            </a:extLst>
          </p:cNvPr>
          <p:cNvSpPr/>
          <p:nvPr/>
        </p:nvSpPr>
        <p:spPr>
          <a:xfrm>
            <a:off x="-1463040" y="5394960"/>
            <a:ext cx="3108960" cy="3108960"/>
          </a:xfrm>
          <a:prstGeom prst="ellipse">
            <a:avLst/>
          </a:prstGeom>
          <a:solidFill>
            <a:srgbClr val="3A3835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A4F4DB-96DC-7F33-B384-3A26DDA439A8}"/>
              </a:ext>
            </a:extLst>
          </p:cNvPr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Corrective Measures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63CFCC7-DA6F-110D-0C6C-C68E20FBEADC}"/>
              </a:ext>
            </a:extLst>
          </p:cNvPr>
          <p:cNvSpPr/>
          <p:nvPr/>
        </p:nvSpPr>
        <p:spPr>
          <a:xfrm>
            <a:off x="640080" y="1691640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2A2A2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BCEBA5F-A2EE-79CF-4507-1829109BBDA9}"/>
              </a:ext>
            </a:extLst>
          </p:cNvPr>
          <p:cNvSpPr/>
          <p:nvPr/>
        </p:nvSpPr>
        <p:spPr>
          <a:xfrm>
            <a:off x="960120" y="1972926"/>
            <a:ext cx="621792" cy="621792"/>
          </a:xfrm>
          <a:prstGeom prst="ellipse">
            <a:avLst/>
          </a:prstGeom>
          <a:solidFill>
            <a:srgbClr val="403F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Stage 1 icon">
            <a:extLst>
              <a:ext uri="{FF2B5EF4-FFF2-40B4-BE49-F238E27FC236}">
                <a16:creationId xmlns:a16="http://schemas.microsoft.com/office/drawing/2014/main" id="{B45E5A93-5386-06B5-5317-228F9CAD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62" y="2056868"/>
            <a:ext cx="453908" cy="453908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101DB5F2-A85A-4073-ABB1-F22641EE9277}"/>
              </a:ext>
            </a:extLst>
          </p:cNvPr>
          <p:cNvSpPr/>
          <p:nvPr/>
        </p:nvSpPr>
        <p:spPr>
          <a:xfrm>
            <a:off x="1828800" y="1764792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Verbal Feedback: If something doesn't align with our guidelines, HR will offer a quick, private conversation to help you course-correct. It's a simple, respectful heads-up — not a formal mark against you.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83BD8DD-B5B6-6E63-2483-AA9D2F083BCB}"/>
              </a:ext>
            </a:extLst>
          </p:cNvPr>
          <p:cNvSpPr/>
          <p:nvPr/>
        </p:nvSpPr>
        <p:spPr>
          <a:xfrm>
            <a:off x="640080" y="3264408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3A1E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4168238-7A2D-72EF-D289-83E928070C08}"/>
              </a:ext>
            </a:extLst>
          </p:cNvPr>
          <p:cNvSpPr/>
          <p:nvPr/>
        </p:nvSpPr>
        <p:spPr>
          <a:xfrm>
            <a:off x="960120" y="3545694"/>
            <a:ext cx="621792" cy="621792"/>
          </a:xfrm>
          <a:prstGeom prst="ellipse">
            <a:avLst/>
          </a:prstGeom>
          <a:solidFill>
            <a:srgbClr val="E263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Stage 2 icon">
            <a:extLst>
              <a:ext uri="{FF2B5EF4-FFF2-40B4-BE49-F238E27FC236}">
                <a16:creationId xmlns:a16="http://schemas.microsoft.com/office/drawing/2014/main" id="{778137FA-E01B-F7D3-2AFE-697A2267C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62" y="3629636"/>
            <a:ext cx="453908" cy="453908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E562390C-EE1C-F9F1-60E6-3DDF51E63549}"/>
              </a:ext>
            </a:extLst>
          </p:cNvPr>
          <p:cNvSpPr/>
          <p:nvPr/>
        </p:nvSpPr>
        <p:spPr>
          <a:xfrm>
            <a:off x="1828800" y="3337560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Written Feedback: If the same concern comes up again, HR will share written feedback outlining the guideline and next steps. This may include a brief request to go home, change, and return — simply so you can meet clients at your best, never as a penalty.</a:t>
            </a:r>
            <a:endParaRPr lang="en-US" sz="16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7C01F59-1905-B8A6-047F-614BCE9AE02E}"/>
              </a:ext>
            </a:extLst>
          </p:cNvPr>
          <p:cNvSpPr/>
          <p:nvPr/>
        </p:nvSpPr>
        <p:spPr>
          <a:xfrm>
            <a:off x="640080" y="4837176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1B3226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5F345755-5025-ADF5-5DFB-8684DF1022DF}"/>
              </a:ext>
            </a:extLst>
          </p:cNvPr>
          <p:cNvSpPr/>
          <p:nvPr/>
        </p:nvSpPr>
        <p:spPr>
          <a:xfrm>
            <a:off x="960120" y="5103948"/>
            <a:ext cx="621792" cy="621792"/>
          </a:xfrm>
          <a:prstGeom prst="ellipse">
            <a:avLst/>
          </a:prstGeom>
          <a:solidFill>
            <a:srgbClr val="4CAF7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Values icon">
            <a:extLst>
              <a:ext uri="{FF2B5EF4-FFF2-40B4-BE49-F238E27FC236}">
                <a16:creationId xmlns:a16="http://schemas.microsoft.com/office/drawing/2014/main" id="{405554D2-3CFB-49B6-FE1A-43BC8E612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62" y="5173376"/>
            <a:ext cx="453908" cy="453908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CDC20E36-2F9C-CD93-5C22-203E312484B4}"/>
              </a:ext>
            </a:extLst>
          </p:cNvPr>
          <p:cNvSpPr/>
          <p:nvPr/>
        </p:nvSpPr>
        <p:spPr>
          <a:xfrm>
            <a:off x="1828800" y="4808730"/>
            <a:ext cx="9464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exists to protect the trust our clients place in MAGPPIE — not to penalize anyone. Our goal is always to guide with care, so every team member feels confident representing our brand.</a:t>
            </a:r>
            <a:endParaRPr lang="en-US" sz="16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02C61C0-A778-F84A-A5A1-85D3EF3A9C30}"/>
              </a:ext>
            </a:extLst>
          </p:cNvPr>
          <p:cNvSpPr/>
          <p:nvPr/>
        </p:nvSpPr>
        <p:spPr>
          <a:xfrm>
            <a:off x="101406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022353D-B1C1-FDC5-7383-9E38A3BDD136}"/>
              </a:ext>
            </a:extLst>
          </p:cNvPr>
          <p:cNvSpPr/>
          <p:nvPr/>
        </p:nvSpPr>
        <p:spPr>
          <a:xfrm>
            <a:off x="103235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CD1DC69F-2E89-8B6A-1323-8E17F33BF6CC}"/>
              </a:ext>
            </a:extLst>
          </p:cNvPr>
          <p:cNvSpPr/>
          <p:nvPr/>
        </p:nvSpPr>
        <p:spPr>
          <a:xfrm>
            <a:off x="105064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519149B-94EF-728A-4311-525B72FA2134}"/>
              </a:ext>
            </a:extLst>
          </p:cNvPr>
          <p:cNvSpPr/>
          <p:nvPr/>
        </p:nvSpPr>
        <p:spPr>
          <a:xfrm>
            <a:off x="1068933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4A37A659-C9C0-64BF-71AC-0028DF864C8B}"/>
              </a:ext>
            </a:extLst>
          </p:cNvPr>
          <p:cNvSpPr/>
          <p:nvPr/>
        </p:nvSpPr>
        <p:spPr>
          <a:xfrm>
            <a:off x="108722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EE79160D-26D7-DF4F-2358-70C6ED93A1CA}"/>
              </a:ext>
            </a:extLst>
          </p:cNvPr>
          <p:cNvSpPr/>
          <p:nvPr/>
        </p:nvSpPr>
        <p:spPr>
          <a:xfrm>
            <a:off x="1105509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3F5A9407-BF83-53EB-D5C0-2201FA907221}"/>
              </a:ext>
            </a:extLst>
          </p:cNvPr>
          <p:cNvSpPr/>
          <p:nvPr/>
        </p:nvSpPr>
        <p:spPr>
          <a:xfrm>
            <a:off x="1123797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CFF031D-33C5-FE34-35B2-15E96AEDA653}"/>
              </a:ext>
            </a:extLst>
          </p:cNvPr>
          <p:cNvSpPr/>
          <p:nvPr/>
        </p:nvSpPr>
        <p:spPr>
          <a:xfrm>
            <a:off x="1142085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046BF78A-2F02-74E7-06CC-6983D1603937}"/>
              </a:ext>
            </a:extLst>
          </p:cNvPr>
          <p:cNvSpPr/>
          <p:nvPr/>
        </p:nvSpPr>
        <p:spPr>
          <a:xfrm>
            <a:off x="11603736" y="6556248"/>
            <a:ext cx="118872" cy="118872"/>
          </a:xfrm>
          <a:prstGeom prst="ellipse">
            <a:avLst/>
          </a:prstGeom>
          <a:solidFill>
            <a:srgbClr val="F078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4FA866E8-49BB-64F8-BADC-B1FA427A7309}"/>
              </a:ext>
            </a:extLst>
          </p:cNvPr>
          <p:cNvSpPr/>
          <p:nvPr/>
        </p:nvSpPr>
        <p:spPr>
          <a:xfrm>
            <a:off x="11786616" y="6579108"/>
            <a:ext cx="60350" cy="60350"/>
          </a:xfrm>
          <a:prstGeom prst="ellipse">
            <a:avLst/>
          </a:prstGeom>
          <a:solidFill>
            <a:srgbClr val="5C5B58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537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838</Words>
  <Application>Microsoft Office PowerPoint</Application>
  <PresentationFormat>Widescreen</PresentationFormat>
  <Paragraphs>96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</cp:revision>
  <dcterms:created xsi:type="dcterms:W3CDTF">2026-08-18T12:59:14Z</dcterms:created>
  <dcterms:modified xsi:type="dcterms:W3CDTF">2026-08-19T13:37:37Z</dcterms:modified>
</cp:coreProperties>
</file>